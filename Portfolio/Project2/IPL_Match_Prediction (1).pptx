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75" r:id="rId6"/>
    <p:sldId id="276" r:id="rId7"/>
    <p:sldId id="281" r:id="rId8"/>
    <p:sldId id="296" r:id="rId9"/>
    <p:sldId id="302" r:id="rId10"/>
    <p:sldId id="297" r:id="rId11"/>
    <p:sldId id="308" r:id="rId12"/>
    <p:sldId id="295" r:id="rId13"/>
    <p:sldId id="30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0EB"/>
    <a:srgbClr val="728DAB"/>
    <a:srgbClr val="446992"/>
    <a:srgbClr val="AEC2D8"/>
    <a:srgbClr val="98432A"/>
    <a:srgbClr val="D84400"/>
    <a:srgbClr val="44678D"/>
    <a:srgbClr val="263E5A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47" autoAdjust="0"/>
    <p:restoredTop sz="87623" autoAdjust="0"/>
  </p:normalViewPr>
  <p:slideViewPr>
    <p:cSldViewPr snapToGrid="0" showGuides="1">
      <p:cViewPr varScale="1">
        <p:scale>
          <a:sx n="65" d="100"/>
          <a:sy n="65" d="100"/>
        </p:scale>
        <p:origin x="352" y="12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77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356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85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48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297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3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tx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2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/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PK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hyperlink" Target="https://towardsdatascience.com/support-vector-machines-svm-c9ef22815589" TargetMode="Externa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hyperlink" Target="https://www.kreedon.com/top-10-biggest-sports-leagues-in-the-world/" TargetMode="External"/><Relationship Id="rId5" Type="http://schemas.openxmlformats.org/officeDocument/2006/relationships/hyperlink" Target="https://www.kaggle.com/datasets/rajsengo/indian-premier-league-ipl-all-seasons/versions/27?resource=download" TargetMode="Externa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IPL (Indian Premier League) Match Prediction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5" y="4172083"/>
            <a:ext cx="4682949" cy="123480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400" dirty="0"/>
              <a:t>Author: Anand Sarda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DSC680 Applied Data Science, Bellevue University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Date: 7/19/2025</a:t>
            </a:r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21BE40-93A4-40EC-89B1-CAC377E0E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333" y="0"/>
            <a:ext cx="3857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4C6B0EF-A91F-CCEF-29DB-37AF86AA0C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30"/>
    </mc:Choice>
    <mc:Fallback xmlns="">
      <p:transition spd="slow" advTm="262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3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7653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Predictive Modeling &amp; Analysis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Findings &amp; Recommendation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B32533E-D827-97F8-7638-265C1AB4D5F6}"/>
              </a:ext>
            </a:extLst>
          </p:cNvPr>
          <p:cNvSpPr txBox="1">
            <a:spLocks/>
          </p:cNvSpPr>
          <p:nvPr/>
        </p:nvSpPr>
        <p:spPr>
          <a:xfrm>
            <a:off x="6240896" y="1082866"/>
            <a:ext cx="1913128" cy="1054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1A0AE57-6F81-A30F-FC73-638F7DCCC9A8}"/>
              </a:ext>
            </a:extLst>
          </p:cNvPr>
          <p:cNvSpPr txBox="1">
            <a:spLocks/>
          </p:cNvSpPr>
          <p:nvPr/>
        </p:nvSpPr>
        <p:spPr>
          <a:xfrm>
            <a:off x="8421856" y="1122624"/>
            <a:ext cx="1904890" cy="1054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Mining &amp; EDA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280224" y="4583362"/>
            <a:ext cx="1913128" cy="1075689"/>
          </a:xfrm>
        </p:spPr>
        <p:txBody>
          <a:bodyPr/>
          <a:lstStyle/>
          <a:p>
            <a:r>
              <a:rPr lang="en-US" dirty="0"/>
              <a:t>Ethical Considerations</a:t>
            </a: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D0BDFA0-3DEE-F890-8987-C5D7C58391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911"/>
    </mc:Choice>
    <mc:Fallback>
      <p:transition spd="slow" advTm="369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06" y="661558"/>
            <a:ext cx="3620322" cy="862792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4640" y="1600518"/>
            <a:ext cx="5302095" cy="5156898"/>
          </a:xfrm>
        </p:spPr>
        <p:txBody>
          <a:bodyPr/>
          <a:lstStyle/>
          <a:p>
            <a:pPr marL="0" marR="0" algn="just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IPL has only started in 2008 and it is already one of the fastest growing sports leagues in the world taking 2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nd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spot recently. The viewership and revenue have been in an uptrend too. Data Analytics has been a part of sports entertainment for a long time. As a sports enthusiast, I am curious to build a predictive analysis model to predict the winning team in an IPL match/tournament using various available stats available for all seasons (2008-2022). 	</a:t>
            </a:r>
          </a:p>
          <a:p>
            <a:pPr algn="just"/>
            <a:endParaRPr lang="en-US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2590C3B-4A02-9CBB-301D-B54A8D063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212" y="1092954"/>
            <a:ext cx="5289452" cy="446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6E5B6EE-F86F-490B-C348-7437085457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954"/>
    </mc:Choice>
    <mc:Fallback>
      <p:transition spd="slow" advTm="36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5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36" y="274956"/>
            <a:ext cx="8367820" cy="699078"/>
          </a:xfrm>
        </p:spPr>
        <p:txBody>
          <a:bodyPr/>
          <a:lstStyle/>
          <a:p>
            <a:pPr algn="l"/>
            <a:r>
              <a:rPr lang="en-US" dirty="0"/>
              <a:t>Data Mining - Data Structure</a:t>
            </a:r>
          </a:p>
        </p:txBody>
      </p: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C1235-3F14-2461-2DC4-9128912DFA0E}"/>
              </a:ext>
            </a:extLst>
          </p:cNvPr>
          <p:cNvSpPr txBox="1"/>
          <p:nvPr/>
        </p:nvSpPr>
        <p:spPr>
          <a:xfrm>
            <a:off x="431292" y="1764922"/>
            <a:ext cx="11329416" cy="274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fontAlgn="base">
              <a:spcBef>
                <a:spcPts val="0"/>
              </a:spcBef>
              <a:spcAft>
                <a:spcPts val="0"/>
              </a:spcAft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The data provided in match level summary as well as ball-by-ball details format for all matches from 2008 till 2022 season.</a:t>
            </a:r>
            <a:b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</a:br>
            <a:endParaRPr lang="en-US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6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all_season_summary.csv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- Summary of all matches across all seasons</a:t>
            </a:r>
          </a:p>
          <a:p>
            <a:pPr marL="0" marR="0" fontAlgn="base">
              <a:lnSpc>
                <a:spcPct val="106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 </a:t>
            </a:r>
          </a:p>
          <a:p>
            <a:pPr marL="0" marR="0" fontAlgn="base">
              <a:lnSpc>
                <a:spcPct val="106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The main dataset to be used in this model is “</a:t>
            </a:r>
            <a:r>
              <a:rPr lang="en-US" sz="18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all_season_summary.csv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” which has about 45 columns and 958 records summarizing every single match from the beginning of season (2008 – 2022).</a:t>
            </a: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F4D3636-DDE8-17B7-889D-3B899DB0FB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852"/>
    </mc:Choice>
    <mc:Fallback>
      <p:transition spd="slow" advTm="438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8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36" y="274956"/>
            <a:ext cx="8367820" cy="699078"/>
          </a:xfrm>
        </p:spPr>
        <p:txBody>
          <a:bodyPr/>
          <a:lstStyle/>
          <a:p>
            <a:pPr algn="l"/>
            <a:r>
              <a:rPr lang="en-US" dirty="0"/>
              <a:t>Data Cleaning</a:t>
            </a:r>
          </a:p>
        </p:txBody>
      </p: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9D7FA2B1-67DD-2315-3CCF-9232FBB796EC}"/>
              </a:ext>
            </a:extLst>
          </p:cNvPr>
          <p:cNvSpPr txBox="1">
            <a:spLocks/>
          </p:cNvSpPr>
          <p:nvPr/>
        </p:nvSpPr>
        <p:spPr>
          <a:xfrm>
            <a:off x="324640" y="1314328"/>
            <a:ext cx="7268856" cy="490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Missing/Null Check - No missing value present in any of the feature. Null values are present in few.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Unwanted features Removal –Some features are excluded from the dataset</a:t>
            </a:r>
          </a:p>
          <a:p>
            <a:pPr marL="9715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Umpire1</a:t>
            </a:r>
          </a:p>
          <a:p>
            <a:pPr marL="9715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Referee</a:t>
            </a:r>
          </a:p>
          <a:p>
            <a:pPr marL="9715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Highlights</a:t>
            </a:r>
          </a:p>
          <a:p>
            <a:pPr marL="9715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Third Umpire</a:t>
            </a:r>
          </a:p>
          <a:p>
            <a:pPr marL="9715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Batting/Bowling stats	</a:t>
            </a:r>
          </a:p>
          <a:p>
            <a:pPr marL="1028700" lvl="1" indent="-342900" algn="just">
              <a:buFont typeface="Wingdings" panose="05000000000000000000" pitchFamily="2" charset="2"/>
              <a:buChar char="Ø"/>
            </a:pPr>
            <a:endParaRPr lang="en-US" sz="1600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06779BC-2F93-6AA4-D791-799832C7C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496" y="0"/>
            <a:ext cx="459850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29DEDF4-E6D0-27BD-D3F1-A4C3334B2B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72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24"/>
    </mc:Choice>
    <mc:Fallback>
      <p:transition spd="slow" advTm="18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36" y="274956"/>
            <a:ext cx="8367820" cy="699078"/>
          </a:xfrm>
        </p:spPr>
        <p:txBody>
          <a:bodyPr/>
          <a:lstStyle/>
          <a:p>
            <a:pPr algn="l"/>
            <a:r>
              <a:rPr lang="en-US" dirty="0"/>
              <a:t>EDA – Features/Variables &amp; Visualizations</a:t>
            </a:r>
          </a:p>
        </p:txBody>
      </p: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9D7FA2B1-67DD-2315-3CCF-9232FBB796EC}"/>
              </a:ext>
            </a:extLst>
          </p:cNvPr>
          <p:cNvSpPr txBox="1">
            <a:spLocks/>
          </p:cNvSpPr>
          <p:nvPr/>
        </p:nvSpPr>
        <p:spPr>
          <a:xfrm>
            <a:off x="366844" y="1771318"/>
            <a:ext cx="3266698" cy="46269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Home Team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Away Team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Toss Won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Decision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Winner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Venue name</a:t>
            </a:r>
          </a:p>
        </p:txBody>
      </p:sp>
      <p:pic>
        <p:nvPicPr>
          <p:cNvPr id="4" name="Picture 3" descr="A graph of blue bars&#10;&#10;Description automatically generated">
            <a:extLst>
              <a:ext uri="{FF2B5EF4-FFF2-40B4-BE49-F238E27FC236}">
                <a16:creationId xmlns:a16="http://schemas.microsoft.com/office/drawing/2014/main" id="{EBD1C58E-A322-AAB7-66B6-D7C1973AC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93" y="3429000"/>
            <a:ext cx="4975274" cy="3429000"/>
          </a:xfrm>
          <a:prstGeom prst="rect">
            <a:avLst/>
          </a:prstGeom>
        </p:spPr>
      </p:pic>
      <p:pic>
        <p:nvPicPr>
          <p:cNvPr id="10" name="Picture 9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4336E1D7-1F99-3602-72E3-CD0CC2F0C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467" y="1"/>
            <a:ext cx="5181565" cy="38686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5BF61B-C4DF-44F1-E881-53CB5E26267D}"/>
              </a:ext>
            </a:extLst>
          </p:cNvPr>
          <p:cNvSpPr txBox="1"/>
          <p:nvPr/>
        </p:nvSpPr>
        <p:spPr>
          <a:xfrm>
            <a:off x="7010434" y="4586067"/>
            <a:ext cx="5181566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Observation:</a:t>
            </a: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Teams that win toss often win more matches.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Teams winning more matches often won more titles and making it to play-offs.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C153FFF-6B30-79B1-48B7-205FF117BA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68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590"/>
    </mc:Choice>
    <mc:Fallback>
      <p:transition spd="slow" advTm="45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59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36" y="274956"/>
            <a:ext cx="8367820" cy="699078"/>
          </a:xfrm>
        </p:spPr>
        <p:txBody>
          <a:bodyPr/>
          <a:lstStyle/>
          <a:p>
            <a:pPr algn="l"/>
            <a:r>
              <a:rPr lang="en-US" dirty="0"/>
              <a:t>Visualization (contd.)</a:t>
            </a:r>
          </a:p>
        </p:txBody>
      </p: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3" name="Picture 2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C6EC4DE6-EEF9-233F-01A0-6F50D0B78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316" y="0"/>
            <a:ext cx="6930683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EB087B-E125-B998-E733-EA7F09546177}"/>
              </a:ext>
            </a:extLst>
          </p:cNvPr>
          <p:cNvSpPr txBox="1"/>
          <p:nvPr/>
        </p:nvSpPr>
        <p:spPr>
          <a:xfrm>
            <a:off x="-33989" y="1730325"/>
            <a:ext cx="5154629" cy="286232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Here is a bar chart showing the Teams that bat or field first results by 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venue.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Shows the count of matches that won between the teams that bat first and field first.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Quick observation from chart shows that teams that bat first often win more matches than teams who field first.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D6B5F14-0F55-278B-20C8-68F1E3B6F8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99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450"/>
    </mc:Choice>
    <mc:Fallback>
      <p:transition spd="slow" advTm="494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4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775958"/>
          </a:xfrm>
        </p:spPr>
        <p:txBody>
          <a:bodyPr/>
          <a:lstStyle/>
          <a:p>
            <a:r>
              <a:rPr lang="en-US" dirty="0"/>
              <a:t>Model Efficiency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2F0166-9C23-F171-1549-1778FF80E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882041"/>
              </p:ext>
            </p:extLst>
          </p:nvPr>
        </p:nvGraphicFramePr>
        <p:xfrm>
          <a:off x="720495" y="1704861"/>
          <a:ext cx="4906582" cy="3234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8493">
                  <a:extLst>
                    <a:ext uri="{9D8B030D-6E8A-4147-A177-3AD203B41FA5}">
                      <a16:colId xmlns:a16="http://schemas.microsoft.com/office/drawing/2014/main" val="2155342314"/>
                    </a:ext>
                  </a:extLst>
                </a:gridCol>
                <a:gridCol w="2238089">
                  <a:extLst>
                    <a:ext uri="{9D8B030D-6E8A-4147-A177-3AD203B41FA5}">
                      <a16:colId xmlns:a16="http://schemas.microsoft.com/office/drawing/2014/main" val="4227162307"/>
                    </a:ext>
                  </a:extLst>
                </a:gridCol>
              </a:tblGrid>
              <a:tr h="120857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Model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Accuracy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4642112"/>
                  </a:ext>
                </a:extLst>
              </a:tr>
              <a:tr h="476622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Logistic Regression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68.75%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5122580"/>
                  </a:ext>
                </a:extLst>
              </a:tr>
              <a:tr h="5106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SVM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68.75%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7757862"/>
                  </a:ext>
                </a:extLst>
              </a:tr>
              <a:tr h="4255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Decision Tree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66.67%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0244654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Random Forest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66.67%</a:t>
                      </a:r>
                    </a:p>
                    <a:p>
                      <a:pPr algn="ctr"/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6748443"/>
                  </a:ext>
                </a:extLst>
              </a:tr>
            </a:tbl>
          </a:graphicData>
        </a:graphic>
      </p:graphicFrame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C07AD39-7F72-4DEE-E222-F42C2A7939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92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46"/>
    </mc:Choice>
    <mc:Fallback>
      <p:transition spd="slow" advTm="230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4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52" y="518150"/>
            <a:ext cx="4427144" cy="1434854"/>
          </a:xfrm>
        </p:spPr>
        <p:txBody>
          <a:bodyPr/>
          <a:lstStyle/>
          <a:p>
            <a:r>
              <a:rPr lang="en-US" dirty="0"/>
              <a:t>Findings and Recommendation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71608" y="1469069"/>
            <a:ext cx="5486039" cy="3336013"/>
          </a:xfrm>
        </p:spPr>
        <p:txBody>
          <a:bodyPr/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This model predicts the match/league winner and relevant useful features that impact the match prediction with better accuracy with a caveat that the model should be regressed when more or better real-world data is available.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CA2EAC6-3B14-6CEE-B535-5A26D6E852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139"/>
    </mc:Choice>
    <mc:Fallback>
      <p:transition spd="slow" advTm="241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13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52" y="518150"/>
            <a:ext cx="4427144" cy="1434854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70142" y="1364567"/>
            <a:ext cx="6987505" cy="3440516"/>
          </a:xfrm>
        </p:spPr>
        <p:txBody>
          <a:bodyPr/>
          <a:lstStyle/>
          <a:p>
            <a:pPr marL="0" marR="0" algn="just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  <a:hlinkClick r:id="rId5"/>
              </a:rPr>
              <a:t>https://www.kaggle.com/datasets/rajsengo/indian-premier-league-ipl-all-seasons/versions/27?resource=download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>
              <a:lnSpc>
                <a:spcPct val="106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  <a:hlinkClick r:id="rId6"/>
              </a:rPr>
              <a:t>https://www.kreedon.com/top-10-biggest-sports-leagues-in-the-world/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>
              <a:lnSpc>
                <a:spcPct val="106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  <a:hlinkClick r:id="rId7"/>
              </a:rPr>
              <a:t>https://towardsdatascience.com/support-vector-machines-svm-c9ef22815589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768EBE3-1F80-589E-8E4A-CAA0D21B2D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29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77"/>
    </mc:Choice>
    <mc:Fallback>
      <p:transition spd="slow" advTm="14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7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dark - tm89027928_Win22_jx_v15" id="{6FC4CD7C-8D8C-413D-9734-DB9D2ACDF211}" vid="{3BCE2F71-642F-410D-8C9D-43A56939DC2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9EC099-CA80-4E7D-B4BF-2970B26F4E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A2AE28-B20A-43BD-B938-8C55A179243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21E1349-079A-46DA-8C56-B35AC6C117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3240</TotalTime>
  <Words>471</Words>
  <Application>Microsoft Office PowerPoint</Application>
  <PresentationFormat>Widescreen</PresentationFormat>
  <Paragraphs>74</Paragraphs>
  <Slides>10</Slides>
  <Notes>8</Notes>
  <HiddenSlides>0</HiddenSlides>
  <MMClips>10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Symbol</vt:lpstr>
      <vt:lpstr>Times New Roman</vt:lpstr>
      <vt:lpstr>Wingdings</vt:lpstr>
      <vt:lpstr>Office 主题​​</vt:lpstr>
      <vt:lpstr>IPL (Indian Premier League) Match Prediction</vt:lpstr>
      <vt:lpstr>Summary</vt:lpstr>
      <vt:lpstr>Introduction</vt:lpstr>
      <vt:lpstr>Data Mining - Data Structure</vt:lpstr>
      <vt:lpstr>Data Cleaning</vt:lpstr>
      <vt:lpstr>EDA – Features/Variables &amp; Visualizations</vt:lpstr>
      <vt:lpstr>Visualization (contd.)</vt:lpstr>
      <vt:lpstr>Model Efficiency</vt:lpstr>
      <vt:lpstr>Findings and Recommendation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and Prediction of Employee Attrition</dc:title>
  <dc:creator>Kesav Adithya Venkidusamy</dc:creator>
  <cp:lastModifiedBy>Rakhi toshniwal</cp:lastModifiedBy>
  <cp:revision>42</cp:revision>
  <dcterms:created xsi:type="dcterms:W3CDTF">2022-09-19T14:13:49Z</dcterms:created>
  <dcterms:modified xsi:type="dcterms:W3CDTF">2025-07-19T13:08:15Z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